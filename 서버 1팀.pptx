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9" r:id="rId8"/>
    <p:sldId id="270" r:id="rId9"/>
    <p:sldId id="264" r:id="rId10"/>
    <p:sldId id="262" r:id="rId11"/>
    <p:sldId id="266" r:id="rId12"/>
    <p:sldId id="267" r:id="rId13"/>
    <p:sldId id="268"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393" y="4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c8c27ab8c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c8c27ab8c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c8c27ab8cf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c8c27ab8cf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c8c27ab8cf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c8c27ab8cf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c8c27ab8cf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c8c27ab8c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2c8c27ab8cf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2c8c27ab8cf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ko"/>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14684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ko" dirty="0"/>
              <a:t>결정장애를 위한 맛집추천 서버 팀프로젝트</a:t>
            </a:r>
            <a:endParaRPr dirty="0"/>
          </a:p>
        </p:txBody>
      </p:sp>
      <p:sp>
        <p:nvSpPr>
          <p:cNvPr id="55" name="Google Shape;55;p13"/>
          <p:cNvSpPr txBox="1">
            <a:spLocks noGrp="1"/>
          </p:cNvSpPr>
          <p:nvPr>
            <p:ph type="subTitle" idx="1"/>
          </p:nvPr>
        </p:nvSpPr>
        <p:spPr>
          <a:xfrm>
            <a:off x="311700" y="3558025"/>
            <a:ext cx="8520600" cy="792600"/>
          </a:xfrm>
          <a:prstGeom prst="rect">
            <a:avLst/>
          </a:prstGeom>
        </p:spPr>
        <p:txBody>
          <a:bodyPr spcFirstLastPara="1" wrap="square" lIns="91425" tIns="91425" rIns="91425" bIns="91425" anchor="t" anchorCtr="0">
            <a:normAutofit fontScale="40000" lnSpcReduction="20000"/>
          </a:bodyPr>
          <a:lstStyle/>
          <a:p>
            <a:pPr marL="0" lvl="0" indent="0" algn="ctr" rtl="0">
              <a:spcBef>
                <a:spcPts val="0"/>
              </a:spcBef>
              <a:spcAft>
                <a:spcPts val="0"/>
              </a:spcAft>
              <a:buClr>
                <a:schemeClr val="dk1"/>
              </a:buClr>
              <a:buSzPts val="440"/>
              <a:buFont typeface="Arial"/>
              <a:buNone/>
            </a:pPr>
            <a:r>
              <a:rPr lang="ko" sz="5200" dirty="0">
                <a:solidFill>
                  <a:schemeClr val="dk1"/>
                </a:solidFill>
              </a:rPr>
              <a:t>서버 (가) 1팀</a:t>
            </a:r>
            <a:endParaRPr sz="5200" dirty="0">
              <a:solidFill>
                <a:schemeClr val="dk1"/>
              </a:solidFill>
            </a:endParaRPr>
          </a:p>
          <a:p>
            <a:pPr marL="0" lvl="0" indent="0" algn="ctr" rtl="0">
              <a:spcBef>
                <a:spcPts val="0"/>
              </a:spcBef>
              <a:spcAft>
                <a:spcPts val="0"/>
              </a:spcAft>
              <a:buNone/>
            </a:pPr>
            <a:endParaRPr dirty="0"/>
          </a:p>
          <a:p>
            <a:pPr marL="0" lvl="0" indent="0" algn="ctr" rtl="0">
              <a:spcBef>
                <a:spcPts val="0"/>
              </a:spcBef>
              <a:spcAft>
                <a:spcPts val="0"/>
              </a:spcAft>
              <a:buNone/>
            </a:pPr>
            <a:r>
              <a:rPr lang="ko" dirty="0"/>
              <a:t>강민수 고경빈 고예현 구한슬</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a:t>프로젝트 요약_핵심내용</a:t>
            </a:r>
            <a:endParaRPr/>
          </a:p>
        </p:txBody>
      </p:sp>
      <p:sp>
        <p:nvSpPr>
          <p:cNvPr id="61" name="Google Shape;61;p14"/>
          <p:cNvSpPr txBox="1">
            <a:spLocks noGrp="1"/>
          </p:cNvSpPr>
          <p:nvPr>
            <p:ph type="body" idx="1"/>
          </p:nvPr>
        </p:nvSpPr>
        <p:spPr>
          <a:xfrm>
            <a:off x="311700" y="1152475"/>
            <a:ext cx="8520600" cy="3908100"/>
          </a:xfrm>
          <a:prstGeom prst="rect">
            <a:avLst/>
          </a:prstGeom>
        </p:spPr>
        <p:txBody>
          <a:bodyPr spcFirstLastPara="1" wrap="square" lIns="91425" tIns="91425" rIns="91425" bIns="91425" anchor="t" anchorCtr="0">
            <a:normAutofit fontScale="70000" lnSpcReduction="20000"/>
          </a:bodyPr>
          <a:lstStyle/>
          <a:p>
            <a:pPr marL="457200" lvl="0" indent="-317182" algn="l" rtl="0">
              <a:spcBef>
                <a:spcPts val="0"/>
              </a:spcBef>
              <a:spcAft>
                <a:spcPts val="0"/>
              </a:spcAft>
              <a:buClr>
                <a:schemeClr val="dk1"/>
              </a:buClr>
              <a:buSzPct val="100000"/>
              <a:buChar char="●"/>
            </a:pPr>
            <a:r>
              <a:rPr lang="ko" b="1" u="sng">
                <a:solidFill>
                  <a:schemeClr val="dk1"/>
                </a:solidFill>
              </a:rPr>
              <a:t>로그인 시스템을 통한 개인화된 서비스 제공</a:t>
            </a:r>
            <a:endParaRPr b="1" u="sng">
              <a:solidFill>
                <a:schemeClr val="dk1"/>
              </a:solidFill>
            </a:endParaRPr>
          </a:p>
          <a:p>
            <a:pPr marL="457200" lvl="0" indent="0" algn="l" rtl="0">
              <a:spcBef>
                <a:spcPts val="1200"/>
              </a:spcBef>
              <a:spcAft>
                <a:spcPts val="0"/>
              </a:spcAft>
              <a:buNone/>
            </a:pPr>
            <a:r>
              <a:rPr lang="ko">
                <a:solidFill>
                  <a:schemeClr val="dk1"/>
                </a:solidFill>
              </a:rPr>
              <a:t>: 사용자는 로그인을 통해 개인화된 서비스를 이용할 수 있으며, 이를 통해 이전 선택, 선호도 및 비선호도 등의 정보를 기반으로 맞춤형 추천을 받을 수 있다.</a:t>
            </a:r>
            <a:endParaRPr>
              <a:solidFill>
                <a:schemeClr val="dk1"/>
              </a:solidFill>
            </a:endParaRPr>
          </a:p>
          <a:p>
            <a:pPr marL="457200" lvl="0" indent="-317182" algn="l" rtl="0">
              <a:spcBef>
                <a:spcPts val="1200"/>
              </a:spcBef>
              <a:spcAft>
                <a:spcPts val="0"/>
              </a:spcAft>
              <a:buClr>
                <a:schemeClr val="dk1"/>
              </a:buClr>
              <a:buSzPct val="100000"/>
              <a:buChar char="●"/>
            </a:pPr>
            <a:r>
              <a:rPr lang="ko" b="1" u="sng">
                <a:solidFill>
                  <a:schemeClr val="dk1"/>
                </a:solidFill>
              </a:rPr>
              <a:t>질문 기반 추천 시스템</a:t>
            </a:r>
            <a:endParaRPr b="1" u="sng">
              <a:solidFill>
                <a:schemeClr val="dk1"/>
              </a:solidFill>
            </a:endParaRPr>
          </a:p>
          <a:p>
            <a:pPr marL="457200" lvl="0" indent="0" algn="l" rtl="0">
              <a:spcBef>
                <a:spcPts val="1200"/>
              </a:spcBef>
              <a:spcAft>
                <a:spcPts val="0"/>
              </a:spcAft>
              <a:buNone/>
            </a:pPr>
            <a:r>
              <a:rPr lang="ko">
                <a:solidFill>
                  <a:schemeClr val="dk1"/>
                </a:solidFill>
              </a:rPr>
              <a:t>: 사용자의 현재 상태나 기분, 음식 선호도 등을 반영하기 위한 질문 리스트를 통해 사용자의 요구사항을 파악하고, 이를 바탕으로 음식점을 추천한다. 로그인 여부에 따라 시작 질문이 달라지므로, 비회원도 일정 수준의 맞춤 추천을 받을 수 있다.</a:t>
            </a:r>
            <a:endParaRPr>
              <a:solidFill>
                <a:schemeClr val="dk1"/>
              </a:solidFill>
            </a:endParaRPr>
          </a:p>
          <a:p>
            <a:pPr marL="457200" lvl="0" indent="-317182" algn="l" rtl="0">
              <a:spcBef>
                <a:spcPts val="1200"/>
              </a:spcBef>
              <a:spcAft>
                <a:spcPts val="0"/>
              </a:spcAft>
              <a:buClr>
                <a:schemeClr val="dk1"/>
              </a:buClr>
              <a:buSzPct val="100000"/>
              <a:buChar char="●"/>
            </a:pPr>
            <a:r>
              <a:rPr lang="ko" b="1" u="sng">
                <a:solidFill>
                  <a:schemeClr val="dk1"/>
                </a:solidFill>
              </a:rPr>
              <a:t>결과 창을 통한 선택 용이성</a:t>
            </a:r>
            <a:endParaRPr b="1" u="sng">
              <a:solidFill>
                <a:schemeClr val="dk1"/>
              </a:solidFill>
            </a:endParaRPr>
          </a:p>
          <a:p>
            <a:pPr marL="457200" lvl="0" indent="0" algn="l" rtl="0">
              <a:spcBef>
                <a:spcPts val="1200"/>
              </a:spcBef>
              <a:spcAft>
                <a:spcPts val="0"/>
              </a:spcAft>
              <a:buNone/>
            </a:pPr>
            <a:r>
              <a:rPr lang="ko">
                <a:solidFill>
                  <a:schemeClr val="dk1"/>
                </a:solidFill>
              </a:rPr>
              <a:t>: 질문에 기반하여 결정된 카테고리 중에서 Google API를 사용해 추출된 3개의 음식점을 카드 형식으로 제시, 사용자는 이 중에서 쉽게 선택할 수 있다.</a:t>
            </a:r>
            <a:endParaRPr>
              <a:solidFill>
                <a:schemeClr val="dk1"/>
              </a:solidFill>
            </a:endParaRPr>
          </a:p>
          <a:p>
            <a:pPr marL="457200" lvl="0" indent="-317182" algn="l" rtl="0">
              <a:spcBef>
                <a:spcPts val="1200"/>
              </a:spcBef>
              <a:spcAft>
                <a:spcPts val="0"/>
              </a:spcAft>
              <a:buClr>
                <a:schemeClr val="dk1"/>
              </a:buClr>
              <a:buSzPct val="100000"/>
              <a:buChar char="●"/>
            </a:pPr>
            <a:r>
              <a:rPr lang="ko" b="1" u="sng">
                <a:solidFill>
                  <a:schemeClr val="dk1"/>
                </a:solidFill>
              </a:rPr>
              <a:t>선호도 및 비선호도 기반 데이터베이스 갱신</a:t>
            </a:r>
            <a:endParaRPr b="1" u="sng">
              <a:solidFill>
                <a:schemeClr val="dk1"/>
              </a:solidFill>
            </a:endParaRPr>
          </a:p>
          <a:p>
            <a:pPr marL="457200" lvl="0" indent="0" algn="l" rtl="0">
              <a:spcBef>
                <a:spcPts val="1200"/>
              </a:spcBef>
              <a:spcAft>
                <a:spcPts val="1200"/>
              </a:spcAft>
              <a:buNone/>
            </a:pPr>
            <a:r>
              <a:rPr lang="ko">
                <a:solidFill>
                  <a:schemeClr val="dk1"/>
                </a:solidFill>
              </a:rPr>
              <a:t>: 사용자가 선택한 음식점은 선호도 및 비선호도로 등록하여 데이터베이스를 갱신, 이를 통해 더욱 정교한 맞춤형 서비스 제공 가능하다.</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a:t>프로젝트 요약_특장점 및 차별성</a:t>
            </a:r>
            <a:endParaRPr/>
          </a:p>
        </p:txBody>
      </p:sp>
      <p:sp>
        <p:nvSpPr>
          <p:cNvPr id="67" name="Google Shape;67;p15"/>
          <p:cNvSpPr txBox="1">
            <a:spLocks noGrp="1"/>
          </p:cNvSpPr>
          <p:nvPr>
            <p:ph type="body" idx="1"/>
          </p:nvPr>
        </p:nvSpPr>
        <p:spPr>
          <a:xfrm>
            <a:off x="311700" y="1152475"/>
            <a:ext cx="8520600" cy="3897900"/>
          </a:xfrm>
          <a:prstGeom prst="rect">
            <a:avLst/>
          </a:prstGeom>
        </p:spPr>
        <p:txBody>
          <a:bodyPr spcFirstLastPara="1" wrap="square" lIns="91425" tIns="91425" rIns="91425" bIns="91425" anchor="t" anchorCtr="0">
            <a:normAutofit fontScale="85000" lnSpcReduction="20000"/>
          </a:bodyPr>
          <a:lstStyle/>
          <a:p>
            <a:pPr marL="457200" lvl="0" indent="-317182" algn="l" rtl="0">
              <a:spcBef>
                <a:spcPts val="0"/>
              </a:spcBef>
              <a:spcAft>
                <a:spcPts val="0"/>
              </a:spcAft>
              <a:buClr>
                <a:schemeClr val="dk1"/>
              </a:buClr>
              <a:buSzPct val="100000"/>
              <a:buChar char="●"/>
            </a:pPr>
            <a:r>
              <a:rPr lang="ko" b="1" u="sng">
                <a:solidFill>
                  <a:schemeClr val="dk1"/>
                </a:solidFill>
              </a:rPr>
              <a:t>개인화된 경험 서비스</a:t>
            </a:r>
            <a:endParaRPr b="1" u="sng">
              <a:solidFill>
                <a:schemeClr val="dk1"/>
              </a:solidFill>
            </a:endParaRPr>
          </a:p>
          <a:p>
            <a:pPr marL="457200" lvl="0" indent="0" algn="l" rtl="0">
              <a:spcBef>
                <a:spcPts val="1200"/>
              </a:spcBef>
              <a:spcAft>
                <a:spcPts val="0"/>
              </a:spcAft>
              <a:buNone/>
            </a:pPr>
            <a:r>
              <a:rPr lang="ko">
                <a:solidFill>
                  <a:schemeClr val="dk1"/>
                </a:solidFill>
              </a:rPr>
              <a:t>: 사용자의 이전 선택과 선호도를 기반으로 한 개인화된 음식점 추천을 제공함으로써, 단순한 위치 기반 서비스를 넘어서는 사용자 중심의 경험을 제공한다.</a:t>
            </a:r>
            <a:endParaRPr>
              <a:solidFill>
                <a:schemeClr val="dk1"/>
              </a:solidFill>
            </a:endParaRPr>
          </a:p>
          <a:p>
            <a:pPr marL="457200" lvl="0" indent="-317182" algn="l" rtl="0">
              <a:spcBef>
                <a:spcPts val="1200"/>
              </a:spcBef>
              <a:spcAft>
                <a:spcPts val="0"/>
              </a:spcAft>
              <a:buClr>
                <a:schemeClr val="dk1"/>
              </a:buClr>
              <a:buSzPct val="100000"/>
              <a:buChar char="●"/>
            </a:pPr>
            <a:r>
              <a:rPr lang="ko" b="1" u="sng">
                <a:solidFill>
                  <a:schemeClr val="dk1"/>
                </a:solidFill>
              </a:rPr>
              <a:t>직관적인 결정 지원 메커니즘으로 결정장애 고민 해결</a:t>
            </a:r>
            <a:endParaRPr b="1" u="sng">
              <a:solidFill>
                <a:schemeClr val="dk1"/>
              </a:solidFill>
            </a:endParaRPr>
          </a:p>
          <a:p>
            <a:pPr marL="457200" lvl="0" indent="0" algn="l" rtl="0">
              <a:spcBef>
                <a:spcPts val="1200"/>
              </a:spcBef>
              <a:spcAft>
                <a:spcPts val="0"/>
              </a:spcAft>
              <a:buNone/>
            </a:pPr>
            <a:r>
              <a:rPr lang="ko">
                <a:solidFill>
                  <a:schemeClr val="dk1"/>
                </a:solidFill>
              </a:rPr>
              <a:t>: 질문과 결과 선택의 접근 방식은 사용자가 자신의 상황과 필요에 맞는 음식점을 쉽고 빠르게 선택할 수 있도록 설계되어 결정의 피로도를 줄이고, 선택 과정에서의 만족도를 높인다.</a:t>
            </a:r>
            <a:endParaRPr>
              <a:solidFill>
                <a:schemeClr val="dk1"/>
              </a:solidFill>
            </a:endParaRPr>
          </a:p>
          <a:p>
            <a:pPr marL="457200" lvl="0" indent="-317182" algn="l" rtl="0">
              <a:spcBef>
                <a:spcPts val="1200"/>
              </a:spcBef>
              <a:spcAft>
                <a:spcPts val="0"/>
              </a:spcAft>
              <a:buClr>
                <a:schemeClr val="dk1"/>
              </a:buClr>
              <a:buSzPct val="100000"/>
              <a:buChar char="●"/>
            </a:pPr>
            <a:r>
              <a:rPr lang="ko" b="1" u="sng">
                <a:solidFill>
                  <a:schemeClr val="dk1"/>
                </a:solidFill>
              </a:rPr>
              <a:t>동적인 데이터베이스 갱신으로 사용자 만족도 향상</a:t>
            </a:r>
            <a:endParaRPr b="1" u="sng">
              <a:solidFill>
                <a:schemeClr val="dk1"/>
              </a:solidFill>
            </a:endParaRPr>
          </a:p>
          <a:p>
            <a:pPr marL="457200" lvl="0" indent="0" algn="l" rtl="0">
              <a:spcBef>
                <a:spcPts val="1200"/>
              </a:spcBef>
              <a:spcAft>
                <a:spcPts val="0"/>
              </a:spcAft>
              <a:buNone/>
            </a:pPr>
            <a:r>
              <a:rPr lang="ko">
                <a:solidFill>
                  <a:schemeClr val="dk1"/>
                </a:solidFill>
              </a:rPr>
              <a:t>: 사용자의 선호도 및 선택을 지속적으로 데이터베이스에 반영함으로써, 서비스는 지속적으로 학습하고 사용자에게 더 적합한 추천을 할 수 있다</a:t>
            </a:r>
            <a:endParaRPr>
              <a:solidFill>
                <a:schemeClr val="dk1"/>
              </a:solidFill>
            </a:endParaRPr>
          </a:p>
          <a:p>
            <a:pPr marL="457200" lvl="0" indent="-317182" algn="l" rtl="0">
              <a:spcBef>
                <a:spcPts val="1200"/>
              </a:spcBef>
              <a:spcAft>
                <a:spcPts val="0"/>
              </a:spcAft>
              <a:buClr>
                <a:schemeClr val="dk1"/>
              </a:buClr>
              <a:buSzPct val="100000"/>
              <a:buChar char="●"/>
            </a:pPr>
            <a:r>
              <a:rPr lang="ko" b="1" u="sng">
                <a:solidFill>
                  <a:schemeClr val="dk1"/>
                </a:solidFill>
              </a:rPr>
              <a:t>다양성 및 신선도 유지</a:t>
            </a:r>
            <a:endParaRPr b="1" u="sng">
              <a:solidFill>
                <a:schemeClr val="dk1"/>
              </a:solidFill>
            </a:endParaRPr>
          </a:p>
          <a:p>
            <a:pPr marL="457200" lvl="0" indent="0" algn="l" rtl="0">
              <a:spcBef>
                <a:spcPts val="1200"/>
              </a:spcBef>
              <a:spcAft>
                <a:spcPts val="1200"/>
              </a:spcAft>
              <a:buNone/>
            </a:pPr>
            <a:r>
              <a:rPr lang="ko">
                <a:solidFill>
                  <a:schemeClr val="dk1"/>
                </a:solidFill>
              </a:rPr>
              <a:t>: 항상 같은 선택에서 벗어나 새로운 음식점을 발견할 수 있도록 돕는다는 차별성을 갖는다</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a:t>프로젝트 요약_기대효과</a:t>
            </a:r>
            <a:endParaRPr/>
          </a:p>
        </p:txBody>
      </p:sp>
      <p:sp>
        <p:nvSpPr>
          <p:cNvPr id="73" name="Google Shape;73;p16"/>
          <p:cNvSpPr txBox="1">
            <a:spLocks noGrp="1"/>
          </p:cNvSpPr>
          <p:nvPr>
            <p:ph type="body" idx="1"/>
          </p:nvPr>
        </p:nvSpPr>
        <p:spPr>
          <a:xfrm>
            <a:off x="311700" y="1152475"/>
            <a:ext cx="8520600" cy="2531100"/>
          </a:xfrm>
          <a:prstGeom prst="rect">
            <a:avLst/>
          </a:prstGeom>
        </p:spPr>
        <p:txBody>
          <a:bodyPr spcFirstLastPara="1" wrap="square" lIns="91425" tIns="91425" rIns="91425" bIns="91425" anchor="t" anchorCtr="0">
            <a:noAutofit/>
          </a:bodyPr>
          <a:lstStyle/>
          <a:p>
            <a:pPr marL="457200" lvl="0" indent="-314325" algn="l" rtl="0">
              <a:spcBef>
                <a:spcPts val="0"/>
              </a:spcBef>
              <a:spcAft>
                <a:spcPts val="0"/>
              </a:spcAft>
              <a:buClr>
                <a:schemeClr val="dk1"/>
              </a:buClr>
              <a:buSzPts val="1350"/>
              <a:buChar char="●"/>
            </a:pPr>
            <a:r>
              <a:rPr lang="ko" sz="1350" b="1" u="sng">
                <a:solidFill>
                  <a:schemeClr val="dk1"/>
                </a:solidFill>
                <a:highlight>
                  <a:srgbClr val="FFFFFF"/>
                </a:highlight>
              </a:rPr>
              <a:t>개인의 결정장애 해결과 음식점 선정 만족감 증대</a:t>
            </a:r>
            <a:endParaRPr sz="1350" b="1" u="sng">
              <a:solidFill>
                <a:schemeClr val="dk1"/>
              </a:solidFill>
              <a:highlight>
                <a:srgbClr val="FFFFFF"/>
              </a:highlight>
            </a:endParaRPr>
          </a:p>
          <a:p>
            <a:pPr marL="457200" lvl="0" indent="0" algn="l" rtl="0">
              <a:spcBef>
                <a:spcPts val="1200"/>
              </a:spcBef>
              <a:spcAft>
                <a:spcPts val="0"/>
              </a:spcAft>
              <a:buNone/>
            </a:pPr>
            <a:r>
              <a:rPr lang="ko" sz="1350">
                <a:solidFill>
                  <a:schemeClr val="dk1"/>
                </a:solidFill>
                <a:highlight>
                  <a:srgbClr val="FFFFFF"/>
                </a:highlight>
              </a:rPr>
              <a:t>: 매일 다니던 동네든 새로 간 동네이든 매번 음식점을 고르는데 시간이나 에너지를 낭비하거나 스트레스를 줄이고 새롭고 다양한 음식 선택을 통해 개인의 식사 경험이 풍부해질 수 있다</a:t>
            </a:r>
            <a:endParaRPr sz="1350">
              <a:solidFill>
                <a:schemeClr val="dk1"/>
              </a:solidFill>
              <a:highlight>
                <a:srgbClr val="FFFFFF"/>
              </a:highlight>
            </a:endParaRPr>
          </a:p>
          <a:p>
            <a:pPr marL="457200" lvl="0" indent="-314325" algn="l" rtl="0">
              <a:spcBef>
                <a:spcPts val="1200"/>
              </a:spcBef>
              <a:spcAft>
                <a:spcPts val="0"/>
              </a:spcAft>
              <a:buClr>
                <a:schemeClr val="dk1"/>
              </a:buClr>
              <a:buSzPts val="1350"/>
              <a:buChar char="●"/>
            </a:pPr>
            <a:r>
              <a:rPr lang="ko" sz="1350" b="1" u="sng">
                <a:solidFill>
                  <a:schemeClr val="dk1"/>
                </a:solidFill>
                <a:highlight>
                  <a:srgbClr val="FFFFFF"/>
                </a:highlight>
              </a:rPr>
              <a:t>지속 가능한 서비스 성장과 혁신 촉진</a:t>
            </a:r>
            <a:endParaRPr sz="1350" b="1" u="sng">
              <a:solidFill>
                <a:schemeClr val="dk1"/>
              </a:solidFill>
              <a:highlight>
                <a:srgbClr val="FFFFFF"/>
              </a:highlight>
            </a:endParaRPr>
          </a:p>
          <a:p>
            <a:pPr marL="457200" lvl="0" indent="0" algn="l" rtl="0">
              <a:spcBef>
                <a:spcPts val="1200"/>
              </a:spcBef>
              <a:spcAft>
                <a:spcPts val="1200"/>
              </a:spcAft>
              <a:buNone/>
            </a:pPr>
            <a:r>
              <a:rPr lang="ko" sz="1350">
                <a:solidFill>
                  <a:schemeClr val="dk1"/>
                </a:solidFill>
                <a:highlight>
                  <a:srgbClr val="FFFFFF"/>
                </a:highlight>
              </a:rPr>
              <a:t>: 사용자의 피드백과 데이터를 기반으로 지속적으로 서비스를 개선하고 새로운 기능을 추가함으로써, 이 서비스는 지속 가능한 성장을 이룰 수 있다. 이는 기술과 서비스가 어떻게 사람들의 일상 생활을 개선하고 변화시킬 수 있는지를 보여주는 사례가 될 것이다</a:t>
            </a:r>
            <a:endParaRPr sz="1350">
              <a:solidFill>
                <a:schemeClr val="dk1"/>
              </a:solidFill>
              <a:highlight>
                <a:srgbClr val="FFFFFF"/>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17"/>
          <p:cNvPicPr preferRelativeResize="0"/>
          <p:nvPr/>
        </p:nvPicPr>
        <p:blipFill>
          <a:blip r:embed="rId3">
            <a:alphaModFix/>
          </a:blip>
          <a:stretch>
            <a:fillRect/>
          </a:stretch>
        </p:blipFill>
        <p:spPr>
          <a:xfrm>
            <a:off x="152400" y="152400"/>
            <a:ext cx="8430559" cy="483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pic>
        <p:nvPicPr>
          <p:cNvPr id="83" name="Google Shape;83;p18"/>
          <p:cNvPicPr preferRelativeResize="0"/>
          <p:nvPr/>
        </p:nvPicPr>
        <p:blipFill>
          <a:blip r:embed="rId3">
            <a:alphaModFix/>
          </a:blip>
          <a:stretch>
            <a:fillRect/>
          </a:stretch>
        </p:blipFill>
        <p:spPr>
          <a:xfrm>
            <a:off x="152400" y="152400"/>
            <a:ext cx="8839198" cy="462268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그림 11">
            <a:extLst>
              <a:ext uri="{FF2B5EF4-FFF2-40B4-BE49-F238E27FC236}">
                <a16:creationId xmlns:a16="http://schemas.microsoft.com/office/drawing/2014/main" id="{AD303DE0-A265-1462-2C21-EA95D993C2F7}"/>
              </a:ext>
            </a:extLst>
          </p:cNvPr>
          <p:cNvPicPr>
            <a:picLocks noChangeAspect="1"/>
          </p:cNvPicPr>
          <p:nvPr/>
        </p:nvPicPr>
        <p:blipFill>
          <a:blip r:embed="rId2"/>
          <a:stretch>
            <a:fillRect/>
          </a:stretch>
        </p:blipFill>
        <p:spPr>
          <a:xfrm>
            <a:off x="96374" y="0"/>
            <a:ext cx="8951252" cy="5143500"/>
          </a:xfrm>
          <a:prstGeom prst="rect">
            <a:avLst/>
          </a:prstGeom>
        </p:spPr>
      </p:pic>
    </p:spTree>
    <p:extLst>
      <p:ext uri="{BB962C8B-B14F-4D97-AF65-F5344CB8AC3E}">
        <p14:creationId xmlns:p14="http://schemas.microsoft.com/office/powerpoint/2010/main" val="2816809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935438CB-9402-3D68-9D96-111CDCC1D287}"/>
              </a:ext>
            </a:extLst>
          </p:cNvPr>
          <p:cNvPicPr>
            <a:picLocks noChangeAspect="1"/>
          </p:cNvPicPr>
          <p:nvPr/>
        </p:nvPicPr>
        <p:blipFill>
          <a:blip r:embed="rId2"/>
          <a:stretch>
            <a:fillRect/>
          </a:stretch>
        </p:blipFill>
        <p:spPr>
          <a:xfrm>
            <a:off x="44332" y="0"/>
            <a:ext cx="9055336" cy="5143500"/>
          </a:xfrm>
          <a:prstGeom prst="rect">
            <a:avLst/>
          </a:prstGeom>
        </p:spPr>
      </p:pic>
    </p:spTree>
    <p:extLst>
      <p:ext uri="{BB962C8B-B14F-4D97-AF65-F5344CB8AC3E}">
        <p14:creationId xmlns:p14="http://schemas.microsoft.com/office/powerpoint/2010/main" val="2992292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C2D815-3C37-1E65-CA40-5BF4D0179483}"/>
              </a:ext>
            </a:extLst>
          </p:cNvPr>
          <p:cNvSpPr txBox="1"/>
          <p:nvPr/>
        </p:nvSpPr>
        <p:spPr>
          <a:xfrm>
            <a:off x="384174" y="311870"/>
            <a:ext cx="2308226" cy="369332"/>
          </a:xfrm>
          <a:prstGeom prst="rect">
            <a:avLst/>
          </a:prstGeom>
          <a:noFill/>
        </p:spPr>
        <p:txBody>
          <a:bodyPr wrap="square" rtlCol="0">
            <a:spAutoFit/>
          </a:bodyPr>
          <a:lstStyle/>
          <a:p>
            <a:r>
              <a:rPr lang="ko-KR" altLang="en-US" sz="1800" dirty="0"/>
              <a:t>페이지 </a:t>
            </a:r>
            <a:r>
              <a:rPr lang="en-US" altLang="ko-KR" sz="1800" dirty="0"/>
              <a:t>ERD</a:t>
            </a:r>
            <a:endParaRPr lang="ko-KR" altLang="en-US" sz="1800" dirty="0"/>
          </a:p>
        </p:txBody>
      </p:sp>
      <p:pic>
        <p:nvPicPr>
          <p:cNvPr id="4" name="그림 3">
            <a:extLst>
              <a:ext uri="{FF2B5EF4-FFF2-40B4-BE49-F238E27FC236}">
                <a16:creationId xmlns:a16="http://schemas.microsoft.com/office/drawing/2014/main" id="{4D4A9AE1-BCE3-65E6-7018-A60DA168D147}"/>
              </a:ext>
            </a:extLst>
          </p:cNvPr>
          <p:cNvPicPr>
            <a:picLocks noChangeAspect="1"/>
          </p:cNvPicPr>
          <p:nvPr/>
        </p:nvPicPr>
        <p:blipFill rotWithShape="1">
          <a:blip r:embed="rId2"/>
          <a:srcRect l="1205" t="10617" r="2079" b="34329"/>
          <a:stretch/>
        </p:blipFill>
        <p:spPr>
          <a:xfrm>
            <a:off x="870857" y="815520"/>
            <a:ext cx="6649873" cy="3788037"/>
          </a:xfrm>
          <a:prstGeom prst="rect">
            <a:avLst/>
          </a:prstGeom>
        </p:spPr>
      </p:pic>
    </p:spTree>
    <p:extLst>
      <p:ext uri="{BB962C8B-B14F-4D97-AF65-F5344CB8AC3E}">
        <p14:creationId xmlns:p14="http://schemas.microsoft.com/office/powerpoint/2010/main" val="383929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표 4">
            <a:extLst>
              <a:ext uri="{FF2B5EF4-FFF2-40B4-BE49-F238E27FC236}">
                <a16:creationId xmlns:a16="http://schemas.microsoft.com/office/drawing/2014/main" id="{72695E05-ADF4-9CFC-62F4-656B4A9D94E1}"/>
              </a:ext>
            </a:extLst>
          </p:cNvPr>
          <p:cNvGraphicFramePr>
            <a:graphicFrameLocks noGrp="1"/>
          </p:cNvGraphicFramePr>
          <p:nvPr>
            <p:extLst>
              <p:ext uri="{D42A27DB-BD31-4B8C-83A1-F6EECF244321}">
                <p14:modId xmlns:p14="http://schemas.microsoft.com/office/powerpoint/2010/main" val="2139295619"/>
              </p:ext>
            </p:extLst>
          </p:nvPr>
        </p:nvGraphicFramePr>
        <p:xfrm>
          <a:off x="1708150" y="971550"/>
          <a:ext cx="5727699" cy="3733800"/>
        </p:xfrm>
        <a:graphic>
          <a:graphicData uri="http://schemas.openxmlformats.org/drawingml/2006/table">
            <a:tbl>
              <a:tblPr/>
              <a:tblGrid>
                <a:gridCol w="1909233">
                  <a:extLst>
                    <a:ext uri="{9D8B030D-6E8A-4147-A177-3AD203B41FA5}">
                      <a16:colId xmlns:a16="http://schemas.microsoft.com/office/drawing/2014/main" val="898755844"/>
                    </a:ext>
                  </a:extLst>
                </a:gridCol>
                <a:gridCol w="1909233">
                  <a:extLst>
                    <a:ext uri="{9D8B030D-6E8A-4147-A177-3AD203B41FA5}">
                      <a16:colId xmlns:a16="http://schemas.microsoft.com/office/drawing/2014/main" val="1137153122"/>
                    </a:ext>
                  </a:extLst>
                </a:gridCol>
                <a:gridCol w="1909233">
                  <a:extLst>
                    <a:ext uri="{9D8B030D-6E8A-4147-A177-3AD203B41FA5}">
                      <a16:colId xmlns:a16="http://schemas.microsoft.com/office/drawing/2014/main" val="1760161666"/>
                    </a:ext>
                  </a:extLst>
                </a:gridCol>
              </a:tblGrid>
              <a:tr h="210372">
                <a:tc>
                  <a:txBody>
                    <a:bodyPr/>
                    <a:lstStyle/>
                    <a:p>
                      <a:pPr algn="ctr" fontAlgn="b"/>
                      <a:r>
                        <a:rPr lang="ko-KR" altLang="en-US" sz="800" b="1" dirty="0">
                          <a:effectLst/>
                        </a:rPr>
                        <a:t>구성 요소</a:t>
                      </a:r>
                    </a:p>
                  </a:txBody>
                  <a:tcPr marL="40192" marR="40192" marT="20096" marB="20096" anchor="b">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chemeClr val="accent4">
                        <a:lumMod val="20000"/>
                        <a:lumOff val="80000"/>
                      </a:schemeClr>
                    </a:solidFill>
                  </a:tcPr>
                </a:tc>
                <a:tc>
                  <a:txBody>
                    <a:bodyPr/>
                    <a:lstStyle/>
                    <a:p>
                      <a:pPr algn="ctr" fontAlgn="b"/>
                      <a:r>
                        <a:rPr lang="ko-KR" altLang="en-US" sz="800" b="1" dirty="0">
                          <a:effectLst/>
                        </a:rPr>
                        <a:t>사용된 기술</a:t>
                      </a:r>
                      <a:r>
                        <a:rPr lang="en-US" altLang="ko-KR" sz="800" b="1" dirty="0">
                          <a:effectLst/>
                        </a:rPr>
                        <a:t>/</a:t>
                      </a:r>
                      <a:r>
                        <a:rPr lang="ko-KR" altLang="en-US" sz="800" b="1" dirty="0">
                          <a:effectLst/>
                        </a:rPr>
                        <a:t>서비스</a:t>
                      </a:r>
                    </a:p>
                  </a:txBody>
                  <a:tcPr marL="40192" marR="40192" marT="20096" marB="20096" anchor="b">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chemeClr val="accent4">
                        <a:lumMod val="20000"/>
                        <a:lumOff val="80000"/>
                      </a:schemeClr>
                    </a:solidFill>
                  </a:tcPr>
                </a:tc>
                <a:tc>
                  <a:txBody>
                    <a:bodyPr/>
                    <a:lstStyle/>
                    <a:p>
                      <a:pPr algn="ctr" fontAlgn="b"/>
                      <a:r>
                        <a:rPr lang="ko-KR" altLang="en-US" sz="800" b="1" dirty="0">
                          <a:effectLst/>
                        </a:rPr>
                        <a:t>설명</a:t>
                      </a:r>
                    </a:p>
                  </a:txBody>
                  <a:tcPr marL="40192" marR="40192" marT="20096" marB="20096" anchor="b">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11222183"/>
                  </a:ext>
                </a:extLst>
              </a:tr>
              <a:tr h="625656">
                <a:tc>
                  <a:txBody>
                    <a:bodyPr/>
                    <a:lstStyle/>
                    <a:p>
                      <a:pPr algn="ctr" fontAlgn="base"/>
                      <a:r>
                        <a:rPr lang="ko-KR" altLang="en-US" sz="900" b="1" dirty="0">
                          <a:effectLst/>
                          <a:latin typeface="+mn-ea"/>
                          <a:ea typeface="+mn-ea"/>
                        </a:rPr>
                        <a:t>사용자 인터페이스</a:t>
                      </a:r>
                    </a:p>
                  </a:txBody>
                  <a:tcPr marL="40192" marR="40192" marT="20096" marB="20096"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algn="ctr" fontAlgn="base"/>
                      <a:r>
                        <a:rPr lang="en-US" altLang="ko-KR" sz="800" dirty="0">
                          <a:effectLst/>
                          <a:latin typeface="+mn-ea"/>
                          <a:ea typeface="+mn-ea"/>
                        </a:rPr>
                        <a:t>HTML, CSS</a:t>
                      </a:r>
                    </a:p>
                  </a:txBody>
                  <a:tcPr marL="40192" marR="40192" marT="20096" marB="20096"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algn="ctr" fontAlgn="base"/>
                      <a:r>
                        <a:rPr lang="ko-KR" altLang="en-US" sz="800" dirty="0">
                          <a:effectLst/>
                          <a:latin typeface="+mn-ea"/>
                          <a:ea typeface="+mn-ea"/>
                        </a:rPr>
                        <a:t>사용자가 애플리케이션과 상호 작용하는 </a:t>
                      </a:r>
                      <a:r>
                        <a:rPr lang="ko-KR" altLang="en-US" sz="800" dirty="0" err="1">
                          <a:effectLst/>
                          <a:latin typeface="+mn-ea"/>
                          <a:ea typeface="+mn-ea"/>
                        </a:rPr>
                        <a:t>프론트엔드</a:t>
                      </a:r>
                      <a:r>
                        <a:rPr lang="ko-KR" altLang="en-US" sz="800" dirty="0">
                          <a:effectLst/>
                          <a:latin typeface="+mn-ea"/>
                          <a:ea typeface="+mn-ea"/>
                        </a:rPr>
                        <a:t> 구성 요소</a:t>
                      </a:r>
                      <a:endParaRPr lang="en-US" altLang="ko-KR" sz="800" dirty="0">
                        <a:effectLst/>
                        <a:latin typeface="+mn-ea"/>
                        <a:ea typeface="+mn-ea"/>
                      </a:endParaRPr>
                    </a:p>
                  </a:txBody>
                  <a:tcPr marL="40192" marR="40192" marT="20096" marB="20096"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4068715378"/>
                  </a:ext>
                </a:extLst>
              </a:tr>
              <a:tr h="395150">
                <a:tc>
                  <a:txBody>
                    <a:bodyPr/>
                    <a:lstStyle/>
                    <a:p>
                      <a:pPr algn="ctr" fontAlgn="base"/>
                      <a:r>
                        <a:rPr lang="ko-KR" altLang="en-US" sz="900" b="1" dirty="0">
                          <a:effectLst/>
                          <a:latin typeface="+mn-ea"/>
                          <a:ea typeface="+mn-ea"/>
                        </a:rPr>
                        <a:t>인증 서비스</a:t>
                      </a:r>
                    </a:p>
                  </a:txBody>
                  <a:tcPr marL="40192" marR="40192" marT="20096" marB="20096"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algn="ctr" fontAlgn="base"/>
                      <a:r>
                        <a:rPr lang="en-US" sz="800" dirty="0">
                          <a:effectLst/>
                          <a:latin typeface="+mn-ea"/>
                          <a:ea typeface="+mn-ea"/>
                        </a:rPr>
                        <a:t>Flask Framework</a:t>
                      </a:r>
                      <a:endParaRPr lang="ko-KR" altLang="en-US" sz="800" dirty="0">
                        <a:effectLst/>
                        <a:latin typeface="+mn-ea"/>
                        <a:ea typeface="+mn-ea"/>
                      </a:endParaRPr>
                    </a:p>
                  </a:txBody>
                  <a:tcPr marL="40192" marR="40192" marT="20096" marB="20096"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algn="ctr" fontAlgn="base"/>
                      <a:r>
                        <a:rPr lang="ko-KR" altLang="en-US" sz="800" dirty="0">
                          <a:effectLst/>
                          <a:latin typeface="+mn-ea"/>
                          <a:ea typeface="+mn-ea"/>
                        </a:rPr>
                        <a:t>사용자 로그인</a:t>
                      </a:r>
                      <a:r>
                        <a:rPr lang="en-US" altLang="ko-KR" sz="800" dirty="0">
                          <a:effectLst/>
                          <a:latin typeface="+mn-ea"/>
                          <a:ea typeface="+mn-ea"/>
                        </a:rPr>
                        <a:t>, </a:t>
                      </a:r>
                      <a:r>
                        <a:rPr lang="ko-KR" altLang="en-US" sz="800" dirty="0">
                          <a:effectLst/>
                          <a:latin typeface="+mn-ea"/>
                          <a:ea typeface="+mn-ea"/>
                        </a:rPr>
                        <a:t>로그아웃 처리</a:t>
                      </a:r>
                      <a:endParaRPr lang="en-US" altLang="ko-KR" sz="800" dirty="0">
                        <a:effectLst/>
                        <a:latin typeface="+mn-ea"/>
                        <a:ea typeface="+mn-ea"/>
                      </a:endParaRPr>
                    </a:p>
                  </a:txBody>
                  <a:tcPr marL="40192" marR="40192" marT="20096" marB="20096"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569092968"/>
                  </a:ext>
                </a:extLst>
              </a:tr>
              <a:tr h="856160">
                <a:tc>
                  <a:txBody>
                    <a:bodyPr/>
                    <a:lstStyle/>
                    <a:p>
                      <a:pPr algn="ctr" fontAlgn="base"/>
                      <a:r>
                        <a:rPr lang="ko-KR" altLang="en-US" sz="900" b="1" dirty="0">
                          <a:effectLst/>
                          <a:latin typeface="+mn-ea"/>
                          <a:ea typeface="+mn-ea"/>
                        </a:rPr>
                        <a:t>음식점 추천 엔진</a:t>
                      </a:r>
                    </a:p>
                  </a:txBody>
                  <a:tcPr marL="40192" marR="40192" marT="20096" marB="20096"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algn="ctr" fontAlgn="base"/>
                      <a:r>
                        <a:rPr lang="en-US" altLang="ko-KR" sz="800" dirty="0">
                          <a:effectLst/>
                          <a:latin typeface="+mn-ea"/>
                          <a:ea typeface="+mn-ea"/>
                        </a:rPr>
                        <a:t>Google Places API, </a:t>
                      </a:r>
                      <a:r>
                        <a:rPr lang="ko-KR" altLang="en-US" sz="800" dirty="0">
                          <a:effectLst/>
                          <a:latin typeface="+mn-ea"/>
                          <a:ea typeface="+mn-ea"/>
                        </a:rPr>
                        <a:t>선택을 위한 맞춤 알고리즘</a:t>
                      </a:r>
                    </a:p>
                  </a:txBody>
                  <a:tcPr marL="40192" marR="40192" marT="20096" marB="20096"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algn="ctr" fontAlgn="base"/>
                      <a:r>
                        <a:rPr lang="ko-KR" altLang="en-US" sz="800" dirty="0">
                          <a:effectLst/>
                          <a:latin typeface="+mn-ea"/>
                          <a:ea typeface="+mn-ea"/>
                        </a:rPr>
                        <a:t>사용자의 답변을 바탕으로 </a:t>
                      </a:r>
                      <a:r>
                        <a:rPr lang="en-US" altLang="ko-KR" sz="800" dirty="0">
                          <a:effectLst/>
                          <a:latin typeface="+mn-ea"/>
                          <a:ea typeface="+mn-ea"/>
                        </a:rPr>
                        <a:t>Google Places API </a:t>
                      </a:r>
                      <a:r>
                        <a:rPr lang="ko-KR" altLang="en-US" sz="800" dirty="0">
                          <a:effectLst/>
                          <a:latin typeface="+mn-ea"/>
                          <a:ea typeface="+mn-ea"/>
                        </a:rPr>
                        <a:t>데이터를 사용하여 상위 </a:t>
                      </a:r>
                      <a:r>
                        <a:rPr lang="en-US" altLang="ko-KR" sz="800" dirty="0">
                          <a:effectLst/>
                          <a:latin typeface="+mn-ea"/>
                          <a:ea typeface="+mn-ea"/>
                        </a:rPr>
                        <a:t>3</a:t>
                      </a:r>
                      <a:r>
                        <a:rPr lang="ko-KR" altLang="en-US" sz="800" dirty="0">
                          <a:effectLst/>
                          <a:latin typeface="+mn-ea"/>
                          <a:ea typeface="+mn-ea"/>
                        </a:rPr>
                        <a:t>개의 음식점 추천</a:t>
                      </a:r>
                      <a:endParaRPr lang="en-US" altLang="ko-KR" sz="800" dirty="0">
                        <a:effectLst/>
                        <a:latin typeface="+mn-ea"/>
                        <a:ea typeface="+mn-ea"/>
                      </a:endParaRPr>
                    </a:p>
                  </a:txBody>
                  <a:tcPr marL="40192" marR="40192" marT="20096" marB="20096"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311512481"/>
                  </a:ext>
                </a:extLst>
              </a:tr>
              <a:tr h="395150">
                <a:tc>
                  <a:txBody>
                    <a:bodyPr/>
                    <a:lstStyle/>
                    <a:p>
                      <a:pPr algn="ctr" fontAlgn="base"/>
                      <a:r>
                        <a:rPr lang="ko-KR" altLang="en-US" sz="900" b="1" dirty="0">
                          <a:effectLst/>
                          <a:latin typeface="+mn-ea"/>
                          <a:ea typeface="+mn-ea"/>
                        </a:rPr>
                        <a:t>데이터베이스</a:t>
                      </a:r>
                    </a:p>
                  </a:txBody>
                  <a:tcPr marL="40192" marR="40192" marT="20096" marB="20096"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algn="ctr" fontAlgn="base"/>
                      <a:r>
                        <a:rPr lang="en-US" sz="800" dirty="0">
                          <a:effectLst/>
                          <a:latin typeface="+mn-ea"/>
                          <a:ea typeface="+mn-ea"/>
                        </a:rPr>
                        <a:t>MySQL</a:t>
                      </a:r>
                    </a:p>
                  </a:txBody>
                  <a:tcPr marL="40192" marR="40192" marT="20096" marB="20096"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algn="ctr" fontAlgn="base"/>
                      <a:r>
                        <a:rPr lang="ko-KR" altLang="en-US" sz="800" dirty="0">
                          <a:effectLst/>
                          <a:latin typeface="+mn-ea"/>
                          <a:ea typeface="+mn-ea"/>
                        </a:rPr>
                        <a:t>사용자 데이터</a:t>
                      </a:r>
                      <a:r>
                        <a:rPr lang="en-US" altLang="ko-KR" sz="800" dirty="0">
                          <a:effectLst/>
                          <a:latin typeface="+mn-ea"/>
                          <a:ea typeface="+mn-ea"/>
                        </a:rPr>
                        <a:t>, </a:t>
                      </a:r>
                      <a:r>
                        <a:rPr lang="ko-KR" altLang="en-US" sz="800" dirty="0">
                          <a:effectLst/>
                          <a:latin typeface="+mn-ea"/>
                          <a:ea typeface="+mn-ea"/>
                        </a:rPr>
                        <a:t>질문</a:t>
                      </a:r>
                      <a:r>
                        <a:rPr lang="en-US" altLang="ko-KR" sz="800" dirty="0">
                          <a:effectLst/>
                          <a:latin typeface="+mn-ea"/>
                          <a:ea typeface="+mn-ea"/>
                        </a:rPr>
                        <a:t>, </a:t>
                      </a:r>
                      <a:r>
                        <a:rPr lang="ko-KR" altLang="en-US" sz="800" dirty="0">
                          <a:effectLst/>
                          <a:latin typeface="+mn-ea"/>
                          <a:ea typeface="+mn-ea"/>
                        </a:rPr>
                        <a:t>답변</a:t>
                      </a:r>
                      <a:r>
                        <a:rPr lang="en-US" altLang="ko-KR" sz="800" dirty="0">
                          <a:effectLst/>
                          <a:latin typeface="+mn-ea"/>
                          <a:ea typeface="+mn-ea"/>
                        </a:rPr>
                        <a:t>, </a:t>
                      </a:r>
                      <a:r>
                        <a:rPr lang="ko-KR" altLang="en-US" sz="800" dirty="0">
                          <a:effectLst/>
                          <a:latin typeface="+mn-ea"/>
                          <a:ea typeface="+mn-ea"/>
                        </a:rPr>
                        <a:t>음식점 정보 저장</a:t>
                      </a:r>
                      <a:endParaRPr lang="en-US" altLang="ko-KR" sz="800" dirty="0">
                        <a:effectLst/>
                        <a:latin typeface="+mn-ea"/>
                        <a:ea typeface="+mn-ea"/>
                      </a:endParaRPr>
                    </a:p>
                  </a:txBody>
                  <a:tcPr marL="40192" marR="40192" marT="20096" marB="20096"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006224473"/>
                  </a:ext>
                </a:extLst>
              </a:tr>
              <a:tr h="625656">
                <a:tc>
                  <a:txBody>
                    <a:bodyPr/>
                    <a:lstStyle/>
                    <a:p>
                      <a:pPr algn="ctr" fontAlgn="base"/>
                      <a:r>
                        <a:rPr lang="ko-KR" altLang="en-US" sz="900" b="1" dirty="0">
                          <a:effectLst/>
                          <a:latin typeface="+mn-ea"/>
                          <a:ea typeface="+mn-ea"/>
                        </a:rPr>
                        <a:t>웹 서버</a:t>
                      </a:r>
                    </a:p>
                  </a:txBody>
                  <a:tcPr marL="40192" marR="40192" marT="20096" marB="20096"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algn="ctr" fontAlgn="base"/>
                      <a:r>
                        <a:rPr lang="en-US" sz="800" dirty="0">
                          <a:effectLst/>
                          <a:latin typeface="+mn-ea"/>
                          <a:ea typeface="+mn-ea"/>
                        </a:rPr>
                        <a:t>Flask Framework</a:t>
                      </a:r>
                    </a:p>
                  </a:txBody>
                  <a:tcPr marL="40192" marR="40192" marT="20096" marB="20096"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algn="ctr" fontAlgn="base"/>
                      <a:r>
                        <a:rPr lang="en-US" altLang="ko-KR" sz="800" dirty="0">
                          <a:effectLst/>
                          <a:latin typeface="+mn-ea"/>
                          <a:ea typeface="+mn-ea"/>
                        </a:rPr>
                        <a:t>HTTP </a:t>
                      </a:r>
                      <a:r>
                        <a:rPr lang="ko-KR" altLang="en-US" sz="800" dirty="0">
                          <a:effectLst/>
                          <a:latin typeface="+mn-ea"/>
                          <a:ea typeface="+mn-ea"/>
                        </a:rPr>
                        <a:t>요청 및 응답을 처리하는 </a:t>
                      </a:r>
                      <a:r>
                        <a:rPr lang="ko-KR" altLang="en-US" sz="800" dirty="0" err="1">
                          <a:effectLst/>
                          <a:latin typeface="+mn-ea"/>
                          <a:ea typeface="+mn-ea"/>
                        </a:rPr>
                        <a:t>백엔드</a:t>
                      </a:r>
                      <a:r>
                        <a:rPr lang="ko-KR" altLang="en-US" sz="800" dirty="0">
                          <a:effectLst/>
                          <a:latin typeface="+mn-ea"/>
                          <a:ea typeface="+mn-ea"/>
                        </a:rPr>
                        <a:t> </a:t>
                      </a:r>
                      <a:r>
                        <a:rPr lang="ko-KR" altLang="en-US" sz="800" dirty="0" err="1">
                          <a:effectLst/>
                          <a:latin typeface="+mn-ea"/>
                          <a:ea typeface="+mn-ea"/>
                        </a:rPr>
                        <a:t>프레임워크로서의</a:t>
                      </a:r>
                      <a:r>
                        <a:rPr lang="ko-KR" altLang="en-US" sz="800" dirty="0">
                          <a:effectLst/>
                          <a:latin typeface="+mn-ea"/>
                          <a:ea typeface="+mn-ea"/>
                        </a:rPr>
                        <a:t> </a:t>
                      </a:r>
                      <a:r>
                        <a:rPr lang="en-US" altLang="ko-KR" sz="800" dirty="0">
                          <a:effectLst/>
                          <a:latin typeface="+mn-ea"/>
                          <a:ea typeface="+mn-ea"/>
                        </a:rPr>
                        <a:t>Flask</a:t>
                      </a:r>
                    </a:p>
                  </a:txBody>
                  <a:tcPr marL="40192" marR="40192" marT="20096" marB="20096"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70483128"/>
                  </a:ext>
                </a:extLst>
              </a:tr>
              <a:tr h="625656">
                <a:tc>
                  <a:txBody>
                    <a:bodyPr/>
                    <a:lstStyle/>
                    <a:p>
                      <a:pPr algn="ctr" fontAlgn="base"/>
                      <a:r>
                        <a:rPr lang="en-US" sz="900" b="1" dirty="0">
                          <a:effectLst/>
                          <a:latin typeface="+mn-ea"/>
                          <a:ea typeface="+mn-ea"/>
                        </a:rPr>
                        <a:t>API </a:t>
                      </a:r>
                      <a:r>
                        <a:rPr lang="ko-KR" altLang="en-US" sz="900" b="1" dirty="0">
                          <a:effectLst/>
                          <a:latin typeface="+mn-ea"/>
                          <a:ea typeface="+mn-ea"/>
                        </a:rPr>
                        <a:t>서비스</a:t>
                      </a:r>
                    </a:p>
                  </a:txBody>
                  <a:tcPr marL="40192" marR="40192" marT="20096" marB="20096"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pPr algn="ctr" fontAlgn="base"/>
                      <a:r>
                        <a:rPr lang="en-US" sz="800">
                          <a:effectLst/>
                          <a:latin typeface="+mn-ea"/>
                          <a:ea typeface="+mn-ea"/>
                        </a:rPr>
                        <a:t>Flask Framework (Python), REST API </a:t>
                      </a:r>
                      <a:r>
                        <a:rPr lang="ko-KR" altLang="en-US" sz="800">
                          <a:effectLst/>
                          <a:latin typeface="+mn-ea"/>
                          <a:ea typeface="+mn-ea"/>
                        </a:rPr>
                        <a:t>사용하여 </a:t>
                      </a:r>
                      <a:r>
                        <a:rPr lang="en-US" sz="800">
                          <a:effectLst/>
                          <a:latin typeface="+mn-ea"/>
                          <a:ea typeface="+mn-ea"/>
                        </a:rPr>
                        <a:t>JSON </a:t>
                      </a:r>
                      <a:r>
                        <a:rPr lang="ko-KR" altLang="en-US" sz="800">
                          <a:effectLst/>
                          <a:latin typeface="+mn-ea"/>
                          <a:ea typeface="+mn-ea"/>
                        </a:rPr>
                        <a:t>형식으로 통신</a:t>
                      </a:r>
                    </a:p>
                  </a:txBody>
                  <a:tcPr marL="40192" marR="40192" marT="20096" marB="20096"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pPr algn="ctr" fontAlgn="base"/>
                      <a:r>
                        <a:rPr lang="ko-KR" altLang="en-US" sz="800" dirty="0" err="1">
                          <a:effectLst/>
                          <a:latin typeface="+mn-ea"/>
                          <a:ea typeface="+mn-ea"/>
                        </a:rPr>
                        <a:t>프론트엔드가</a:t>
                      </a:r>
                      <a:r>
                        <a:rPr lang="ko-KR" altLang="en-US" sz="800" dirty="0">
                          <a:effectLst/>
                          <a:latin typeface="+mn-ea"/>
                          <a:ea typeface="+mn-ea"/>
                        </a:rPr>
                        <a:t> 서버와 통신하기 위한 일련의 </a:t>
                      </a:r>
                      <a:r>
                        <a:rPr lang="en-US" altLang="ko-KR" sz="800" dirty="0">
                          <a:effectLst/>
                          <a:latin typeface="+mn-ea"/>
                          <a:ea typeface="+mn-ea"/>
                        </a:rPr>
                        <a:t>HTTP </a:t>
                      </a:r>
                      <a:r>
                        <a:rPr lang="ko-KR" altLang="en-US" sz="800" dirty="0" err="1">
                          <a:effectLst/>
                          <a:latin typeface="+mn-ea"/>
                          <a:ea typeface="+mn-ea"/>
                        </a:rPr>
                        <a:t>엔드포인트를</a:t>
                      </a:r>
                      <a:r>
                        <a:rPr lang="ko-KR" altLang="en-US" sz="800" dirty="0">
                          <a:effectLst/>
                          <a:latin typeface="+mn-ea"/>
                          <a:ea typeface="+mn-ea"/>
                        </a:rPr>
                        <a:t> 제공</a:t>
                      </a:r>
                      <a:endParaRPr lang="en-US" altLang="ko-KR" sz="800" dirty="0">
                        <a:effectLst/>
                        <a:latin typeface="+mn-ea"/>
                        <a:ea typeface="+mn-ea"/>
                      </a:endParaRPr>
                    </a:p>
                  </a:txBody>
                  <a:tcPr marL="40192" marR="40192" marT="20096" marB="20096"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522391341"/>
                  </a:ext>
                </a:extLst>
              </a:tr>
            </a:tbl>
          </a:graphicData>
        </a:graphic>
      </p:graphicFrame>
      <p:sp>
        <p:nvSpPr>
          <p:cNvPr id="6" name="TextBox 5">
            <a:extLst>
              <a:ext uri="{FF2B5EF4-FFF2-40B4-BE49-F238E27FC236}">
                <a16:creationId xmlns:a16="http://schemas.microsoft.com/office/drawing/2014/main" id="{649CFBD5-73F6-E042-6A7F-292CC6A0869B}"/>
              </a:ext>
            </a:extLst>
          </p:cNvPr>
          <p:cNvSpPr txBox="1"/>
          <p:nvPr/>
        </p:nvSpPr>
        <p:spPr>
          <a:xfrm>
            <a:off x="384174" y="311870"/>
            <a:ext cx="2308226" cy="369332"/>
          </a:xfrm>
          <a:prstGeom prst="rect">
            <a:avLst/>
          </a:prstGeom>
          <a:noFill/>
        </p:spPr>
        <p:txBody>
          <a:bodyPr wrap="square" rtlCol="0">
            <a:spAutoFit/>
          </a:bodyPr>
          <a:lstStyle/>
          <a:p>
            <a:r>
              <a:rPr lang="ko-KR" altLang="en-US" sz="1800" dirty="0"/>
              <a:t>시스템 구축 환경</a:t>
            </a:r>
            <a:r>
              <a:rPr lang="en-US" altLang="ko-KR" sz="1800" dirty="0"/>
              <a:t>(1)</a:t>
            </a:r>
            <a:endParaRPr lang="ko-KR" altLang="en-US" sz="1800" dirty="0"/>
          </a:p>
        </p:txBody>
      </p:sp>
    </p:spTree>
    <p:extLst>
      <p:ext uri="{BB962C8B-B14F-4D97-AF65-F5344CB8AC3E}">
        <p14:creationId xmlns:p14="http://schemas.microsoft.com/office/powerpoint/2010/main" val="3575079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E8BEB3F8-6EF3-8C03-AAF4-03098BCBDEB5}"/>
              </a:ext>
            </a:extLst>
          </p:cNvPr>
          <p:cNvPicPr>
            <a:picLocks noChangeAspect="1"/>
          </p:cNvPicPr>
          <p:nvPr/>
        </p:nvPicPr>
        <p:blipFill>
          <a:blip r:embed="rId2"/>
          <a:stretch>
            <a:fillRect/>
          </a:stretch>
        </p:blipFill>
        <p:spPr>
          <a:xfrm>
            <a:off x="211084" y="814236"/>
            <a:ext cx="6665966" cy="3959931"/>
          </a:xfrm>
          <a:prstGeom prst="rect">
            <a:avLst/>
          </a:prstGeom>
        </p:spPr>
      </p:pic>
      <p:sp>
        <p:nvSpPr>
          <p:cNvPr id="5" name="TextBox 4">
            <a:extLst>
              <a:ext uri="{FF2B5EF4-FFF2-40B4-BE49-F238E27FC236}">
                <a16:creationId xmlns:a16="http://schemas.microsoft.com/office/drawing/2014/main" id="{EEA84F25-6028-D0BF-BF96-F2E073E61B50}"/>
              </a:ext>
            </a:extLst>
          </p:cNvPr>
          <p:cNvSpPr txBox="1"/>
          <p:nvPr/>
        </p:nvSpPr>
        <p:spPr>
          <a:xfrm>
            <a:off x="7733974" y="3064093"/>
            <a:ext cx="1125630" cy="307777"/>
          </a:xfrm>
          <a:prstGeom prst="rect">
            <a:avLst/>
          </a:prstGeom>
          <a:noFill/>
        </p:spPr>
        <p:txBody>
          <a:bodyPr wrap="square">
            <a:spAutoFit/>
          </a:bodyPr>
          <a:lstStyle/>
          <a:p>
            <a:r>
              <a:rPr lang="ko-KR" altLang="en-US"/>
              <a:t> </a:t>
            </a:r>
            <a:r>
              <a:rPr lang="en-US" altLang="ko-KR" dirty="0"/>
              <a:t>react</a:t>
            </a:r>
            <a:endParaRPr lang="ko-KR" altLang="en-US" dirty="0"/>
          </a:p>
        </p:txBody>
      </p:sp>
      <p:sp>
        <p:nvSpPr>
          <p:cNvPr id="6" name="순서도: 대체 처리 5">
            <a:extLst>
              <a:ext uri="{FF2B5EF4-FFF2-40B4-BE49-F238E27FC236}">
                <a16:creationId xmlns:a16="http://schemas.microsoft.com/office/drawing/2014/main" id="{019D067A-FC01-C5A1-5021-833A8C232310}"/>
              </a:ext>
            </a:extLst>
          </p:cNvPr>
          <p:cNvSpPr/>
          <p:nvPr/>
        </p:nvSpPr>
        <p:spPr>
          <a:xfrm>
            <a:off x="7188434" y="2334112"/>
            <a:ext cx="1744482" cy="1013715"/>
          </a:xfrm>
          <a:prstGeom prst="flowChartAlternate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8" name="그림 7" descr="그래픽, 폰트, 로고, 상징이(가) 표시된 사진&#10;&#10;자동 생성된 설명">
            <a:extLst>
              <a:ext uri="{FF2B5EF4-FFF2-40B4-BE49-F238E27FC236}">
                <a16:creationId xmlns:a16="http://schemas.microsoft.com/office/drawing/2014/main" id="{31168532-6147-FB0E-95B2-821C032A56BE}"/>
              </a:ext>
            </a:extLst>
          </p:cNvPr>
          <p:cNvPicPr>
            <a:picLocks noChangeAspect="1"/>
          </p:cNvPicPr>
          <p:nvPr/>
        </p:nvPicPr>
        <p:blipFill>
          <a:blip r:embed="rId3"/>
          <a:stretch>
            <a:fillRect/>
          </a:stretch>
        </p:blipFill>
        <p:spPr>
          <a:xfrm>
            <a:off x="7581329" y="2390715"/>
            <a:ext cx="958692" cy="768871"/>
          </a:xfrm>
          <a:prstGeom prst="rect">
            <a:avLst/>
          </a:prstGeom>
        </p:spPr>
      </p:pic>
      <p:cxnSp>
        <p:nvCxnSpPr>
          <p:cNvPr id="9" name="직선 화살표 연결선 8">
            <a:extLst>
              <a:ext uri="{FF2B5EF4-FFF2-40B4-BE49-F238E27FC236}">
                <a16:creationId xmlns:a16="http://schemas.microsoft.com/office/drawing/2014/main" id="{0FEC5B39-D17E-5894-26B9-C15066525162}"/>
              </a:ext>
            </a:extLst>
          </p:cNvPr>
          <p:cNvCxnSpPr>
            <a:cxnSpLocks/>
          </p:cNvCxnSpPr>
          <p:nvPr/>
        </p:nvCxnSpPr>
        <p:spPr>
          <a:xfrm>
            <a:off x="6889750" y="2998979"/>
            <a:ext cx="222250" cy="0"/>
          </a:xfrm>
          <a:prstGeom prst="straightConnector1">
            <a:avLst/>
          </a:prstGeom>
          <a:ln>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직선 화살표 연결선 9">
            <a:extLst>
              <a:ext uri="{FF2B5EF4-FFF2-40B4-BE49-F238E27FC236}">
                <a16:creationId xmlns:a16="http://schemas.microsoft.com/office/drawing/2014/main" id="{D9382F9B-7323-560B-1763-5EC09D46168D}"/>
              </a:ext>
            </a:extLst>
          </p:cNvPr>
          <p:cNvCxnSpPr>
            <a:cxnSpLocks/>
          </p:cNvCxnSpPr>
          <p:nvPr/>
        </p:nvCxnSpPr>
        <p:spPr>
          <a:xfrm flipH="1">
            <a:off x="6883400" y="2751329"/>
            <a:ext cx="222250" cy="0"/>
          </a:xfrm>
          <a:prstGeom prst="straightConnector1">
            <a:avLst/>
          </a:prstGeom>
          <a:ln>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C111BB6-B90D-7E18-1EA8-73DD21501569}"/>
              </a:ext>
            </a:extLst>
          </p:cNvPr>
          <p:cNvSpPr txBox="1"/>
          <p:nvPr/>
        </p:nvSpPr>
        <p:spPr>
          <a:xfrm>
            <a:off x="384174" y="311870"/>
            <a:ext cx="2308226" cy="369332"/>
          </a:xfrm>
          <a:prstGeom prst="rect">
            <a:avLst/>
          </a:prstGeom>
          <a:noFill/>
        </p:spPr>
        <p:txBody>
          <a:bodyPr wrap="square" rtlCol="0">
            <a:spAutoFit/>
          </a:bodyPr>
          <a:lstStyle/>
          <a:p>
            <a:r>
              <a:rPr lang="ko-KR" altLang="en-US" sz="1800" dirty="0"/>
              <a:t>시스템 구축 환경</a:t>
            </a:r>
            <a:r>
              <a:rPr lang="en-US" altLang="ko-KR" sz="1800" dirty="0"/>
              <a:t>(2)</a:t>
            </a:r>
            <a:endParaRPr lang="ko-KR" altLang="en-US" sz="1800" dirty="0"/>
          </a:p>
        </p:txBody>
      </p:sp>
    </p:spTree>
    <p:extLst>
      <p:ext uri="{BB962C8B-B14F-4D97-AF65-F5344CB8AC3E}">
        <p14:creationId xmlns:p14="http://schemas.microsoft.com/office/powerpoint/2010/main" val="92247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E7A9B16C-B9B8-0DD0-766C-805774AF5F35}"/>
              </a:ext>
            </a:extLst>
          </p:cNvPr>
          <p:cNvPicPr>
            <a:picLocks noChangeAspect="1"/>
          </p:cNvPicPr>
          <p:nvPr/>
        </p:nvPicPr>
        <p:blipFill>
          <a:blip r:embed="rId2"/>
          <a:stretch>
            <a:fillRect/>
          </a:stretch>
        </p:blipFill>
        <p:spPr>
          <a:xfrm>
            <a:off x="4329" y="0"/>
            <a:ext cx="9135341" cy="5143500"/>
          </a:xfrm>
          <a:prstGeom prst="rect">
            <a:avLst/>
          </a:prstGeom>
        </p:spPr>
      </p:pic>
    </p:spTree>
    <p:extLst>
      <p:ext uri="{BB962C8B-B14F-4D97-AF65-F5344CB8AC3E}">
        <p14:creationId xmlns:p14="http://schemas.microsoft.com/office/powerpoint/2010/main" val="3763888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9A298F79-6843-D2B1-7736-7C33DD87B8DD}"/>
              </a:ext>
            </a:extLst>
          </p:cNvPr>
          <p:cNvPicPr>
            <a:picLocks noChangeAspect="1"/>
          </p:cNvPicPr>
          <p:nvPr/>
        </p:nvPicPr>
        <p:blipFill>
          <a:blip r:embed="rId2"/>
          <a:stretch>
            <a:fillRect/>
          </a:stretch>
        </p:blipFill>
        <p:spPr>
          <a:xfrm>
            <a:off x="0" y="9183"/>
            <a:ext cx="9144000" cy="5125134"/>
          </a:xfrm>
          <a:prstGeom prst="rect">
            <a:avLst/>
          </a:prstGeom>
        </p:spPr>
      </p:pic>
      <p:pic>
        <p:nvPicPr>
          <p:cNvPr id="5" name="그림 4">
            <a:extLst>
              <a:ext uri="{FF2B5EF4-FFF2-40B4-BE49-F238E27FC236}">
                <a16:creationId xmlns:a16="http://schemas.microsoft.com/office/drawing/2014/main" id="{44A50E00-2BF5-DCA0-13B5-953DD7EC0B79}"/>
              </a:ext>
            </a:extLst>
          </p:cNvPr>
          <p:cNvPicPr>
            <a:picLocks noChangeAspect="1"/>
          </p:cNvPicPr>
          <p:nvPr/>
        </p:nvPicPr>
        <p:blipFill>
          <a:blip r:embed="rId3"/>
          <a:stretch>
            <a:fillRect/>
          </a:stretch>
        </p:blipFill>
        <p:spPr>
          <a:xfrm>
            <a:off x="1058090" y="9183"/>
            <a:ext cx="2366920" cy="5143500"/>
          </a:xfrm>
          <a:prstGeom prst="rect">
            <a:avLst/>
          </a:prstGeom>
        </p:spPr>
      </p:pic>
    </p:spTree>
    <p:extLst>
      <p:ext uri="{BB962C8B-B14F-4D97-AF65-F5344CB8AC3E}">
        <p14:creationId xmlns:p14="http://schemas.microsoft.com/office/powerpoint/2010/main" val="308742617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451</Words>
  <Application>Microsoft Office PowerPoint</Application>
  <PresentationFormat>화면 슬라이드 쇼(16:9)</PresentationFormat>
  <Paragraphs>52</Paragraphs>
  <Slides>13</Slides>
  <Notes>6</Notes>
  <HiddenSlides>0</HiddenSlides>
  <MMClips>0</MMClips>
  <ScaleCrop>false</ScaleCrop>
  <HeadingPairs>
    <vt:vector size="6" baseType="variant">
      <vt:variant>
        <vt:lpstr>사용한 글꼴</vt:lpstr>
      </vt:variant>
      <vt:variant>
        <vt:i4>1</vt:i4>
      </vt:variant>
      <vt:variant>
        <vt:lpstr>테마</vt:lpstr>
      </vt:variant>
      <vt:variant>
        <vt:i4>1</vt:i4>
      </vt:variant>
      <vt:variant>
        <vt:lpstr>슬라이드 제목</vt:lpstr>
      </vt:variant>
      <vt:variant>
        <vt:i4>13</vt:i4>
      </vt:variant>
    </vt:vector>
  </HeadingPairs>
  <TitlesOfParts>
    <vt:vector size="15" baseType="lpstr">
      <vt:lpstr>Arial</vt:lpstr>
      <vt:lpstr>Simple Light</vt:lpstr>
      <vt:lpstr>결정장애를 위한 맛집추천 서버 팀프로젝트</vt:lpstr>
      <vt:lpstr>프로젝트 요약_핵심내용</vt:lpstr>
      <vt:lpstr>프로젝트 요약_특장점 및 차별성</vt:lpstr>
      <vt:lpstr>프로젝트 요약_기대효과</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결정장애를 위한 맛집추천 서버 팀프로젝트</dc:title>
  <cp:lastModifiedBy>한슬 구</cp:lastModifiedBy>
  <cp:revision>4</cp:revision>
  <dcterms:modified xsi:type="dcterms:W3CDTF">2024-04-17T13:05:41Z</dcterms:modified>
</cp:coreProperties>
</file>